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D3748"/>
                </a:solidFill>
                <a:latin typeface="Arial"/>
              </a:rPr>
              <a:t>Répartition du statut crédit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bubble3D val="0"/>
            <c:spPr>
              <a:solidFill>
                <a:srgbClr val="E87C2B"/>
              </a:solidFill>
              <a:effectLst/>
            </c:spPr>
          </c:dPt>
          <c:dPt>
            <c:idx val="2"/>
            <c:bubble3D val="0"/>
            <c:spPr>
              <a:solidFill>
                <a:srgbClr val="D6404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Bon (64,8%)</c:v>
                </c:pt>
                <c:pt idx="1">
                  <c:v>Douteux (25,2%)</c:v>
                </c:pt>
                <c:pt idx="2">
                  <c:v>Contentieux (9,9%)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326</c:v>
                </c:pt>
                <c:pt idx="1">
                  <c:v>127</c:v>
                </c:pt>
                <c:pt idx="2">
                  <c:v>50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374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D3748"/>
                </a:solidFill>
                <a:latin typeface="Arial"/>
              </a:rPr>
              <a:t>Répartition géographique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Ziguinchor</c:v>
                  </c:pt>
                  <c:pt idx="1">
                    <c:v>Dakar</c:v>
                  </c:pt>
                  <c:pt idx="2">
                    <c:v>Saint-Louis</c:v>
                  </c:pt>
                  <c:pt idx="3">
                    <c:v>Kaolack</c:v>
                  </c:pt>
                  <c:pt idx="4">
                    <c:v>Thiès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112</c:v>
                </c:pt>
                <c:pt idx="1">
                  <c:v>108</c:v>
                </c:pt>
                <c:pt idx="2">
                  <c:v>98</c:v>
                </c:pt>
                <c:pt idx="3">
                  <c:v>93</c:v>
                </c:pt>
                <c:pt idx="4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374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D3748"/>
                </a:solidFill>
                <a:latin typeface="Arial"/>
              </a:rPr>
              <a:t>Secteurs d'activité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Services</c:v>
                  </c:pt>
                  <c:pt idx="1">
                    <c:v>Commerce</c:v>
                  </c:pt>
                  <c:pt idx="2">
                    <c:v>Agriculture</c:v>
                  </c:pt>
                  <c:pt idx="3">
                    <c:v>Industrie</c:v>
                  </c:pt>
                  <c:pt idx="4">
                    <c:v>BTP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107</c:v>
                </c:pt>
                <c:pt idx="2">
                  <c:v>106</c:v>
                </c:pt>
                <c:pt idx="3">
                  <c:v>106</c:v>
                </c:pt>
                <c:pt idx="4">
                  <c:v>106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374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D3748"/>
                </a:solidFill>
                <a:latin typeface="Arial"/>
              </a:rPr>
              <a:t>Types de garantie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Garantie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2B55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9BD3D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Immobilière (42%)</c:v>
                </c:pt>
                <c:pt idx="1">
                  <c:v>Mobilière (30%)</c:v>
                </c:pt>
                <c:pt idx="2">
                  <c:v>Caution (19%)</c:v>
                </c:pt>
                <c:pt idx="3">
                  <c:v>Pas de garantie (10%)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209</c:v>
                </c:pt>
                <c:pt idx="1">
                  <c:v>150</c:v>
                </c:pt>
                <c:pt idx="2">
                  <c:v>95</c:v>
                </c:pt>
                <c:pt idx="3">
                  <c:v>49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374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D3748"/>
                </a:solidFill>
                <a:latin typeface="Arial"/>
              </a:rPr>
              <a:t>Statut crédit par région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Bon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Dakar</c:v>
                  </c:pt>
                  <c:pt idx="1">
                    <c:v>Kaolack</c:v>
                  </c:pt>
                  <c:pt idx="2">
                    <c:v>Saint-Louis</c:v>
                  </c:pt>
                  <c:pt idx="3">
                    <c:v>Thiès</c:v>
                  </c:pt>
                  <c:pt idx="4">
                    <c:v>Ziguinchor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</c:v>
                </c:pt>
                <c:pt idx="1">
                  <c:v>69</c:v>
                </c:pt>
                <c:pt idx="2">
                  <c:v>62</c:v>
                </c:pt>
                <c:pt idx="3">
                  <c:v>64</c:v>
                </c:pt>
                <c:pt idx="4">
                  <c:v>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Douteux</c:v>
                </c:pt>
              </c:strCache>
            </c:strRef>
          </c:tx>
          <c:spPr>
            <a:solidFill>
              <a:srgbClr val="E87C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Dakar</c:v>
                  </c:pt>
                  <c:pt idx="1">
                    <c:v>Kaolack</c:v>
                  </c:pt>
                  <c:pt idx="2">
                    <c:v>Saint-Louis</c:v>
                  </c:pt>
                  <c:pt idx="3">
                    <c:v>Thiès</c:v>
                  </c:pt>
                  <c:pt idx="4">
                    <c:v>Ziguinchor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</c:v>
                </c:pt>
                <c:pt idx="1">
                  <c:v>18</c:v>
                </c:pt>
                <c:pt idx="2">
                  <c:v>28</c:v>
                </c:pt>
                <c:pt idx="3">
                  <c:v>26</c:v>
                </c:pt>
                <c:pt idx="4">
                  <c:v>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Contentieux</c:v>
                </c:pt>
              </c:strCache>
            </c:strRef>
          </c:tx>
          <c:spPr>
            <a:solidFill>
              <a:srgbClr val="D640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Dakar</c:v>
                  </c:pt>
                  <c:pt idx="1">
                    <c:v>Kaolack</c:v>
                  </c:pt>
                  <c:pt idx="2">
                    <c:v>Saint-Louis</c:v>
                  </c:pt>
                  <c:pt idx="3">
                    <c:v>Thiès</c:v>
                  </c:pt>
                  <c:pt idx="4">
                    <c:v>Ziguinchor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</c:v>
                </c:pt>
                <c:pt idx="1">
                  <c:v>13</c:v>
                </c:pt>
                <c:pt idx="2">
                  <c:v>10</c:v>
                </c:pt>
                <c:pt idx="3">
                  <c:v>10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2D374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2D3748"/>
                </a:solidFill>
                <a:latin typeface="Arial"/>
              </a:rPr>
              <a:t>Montant moyen par statut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Montant moyen (FCFA)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7C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404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Bon</c:v>
                  </c:pt>
                  <c:pt idx="1">
                    <c:v>Douteux</c:v>
                  </c:pt>
                  <c:pt idx="2">
                    <c:v>Contentieux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3934049</c:v>
                </c:pt>
                <c:pt idx="1">
                  <c:v>3708661</c:v>
                </c:pt>
                <c:pt idx="2">
                  <c:v>3550000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2D374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2D3748"/>
                </a:solidFill>
                <a:latin typeface="Arial"/>
              </a:rPr>
              <a:t>Taux d'intérêt moyen par statut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moyen (%)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7C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404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Bon</c:v>
                  </c:pt>
                  <c:pt idx="1">
                    <c:v>Douteux</c:v>
                  </c:pt>
                  <c:pt idx="2">
                    <c:v>Contentieux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12.92</c:v>
                </c:pt>
                <c:pt idx="1">
                  <c:v>13.31</c:v>
                </c:pt>
                <c:pt idx="2">
                  <c:v>12.78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12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-365760"/>
            <a:ext cx="1463040" cy="146304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ANALYSE PORTEFEUILLE CRÉDIT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BNDE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B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Exploration, Nettoyage &amp; Profilage du Risque Crédit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45720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BD3DD"/>
                </a:solidFill>
              </a:rPr>
              <a:t>503 clients analysés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 |   </a:t>
            </a:r>
            <a:pPr algn="l" indent="0" marL="0">
              <a:buNone/>
            </a:pPr>
            <a:r>
              <a:rPr lang="en-US" sz="1200" dirty="0">
                <a:solidFill>
                  <a:srgbClr val="9BD3DD"/>
                </a:solidFill>
              </a:rPr>
              <a:t>5 régions couvertes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 |   </a:t>
            </a:r>
            <a:pPr algn="l" indent="0" marL="0">
              <a:buNone/>
            </a:pPr>
            <a:r>
              <a:rPr lang="en-US" sz="1200" dirty="0">
                <a:solidFill>
                  <a:srgbClr val="9BD3DD"/>
                </a:solidFill>
              </a:rPr>
              <a:t>Données BNDE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SOMMAIRE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64008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</a:rPr>
              <a:t>Le Dataset en chiffres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Structure, dimensions, variables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34440"/>
            <a:ext cx="64008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258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1801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</a:rPr>
              <a:t>Nettoyage des données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194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Doublons, valeurs manquantes, anomalies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234440"/>
            <a:ext cx="64008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3258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1801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</a:rPr>
              <a:t>Profil de nos clients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Géographie, secteurs, revenus, garanties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34640"/>
            <a:ext cx="64008" cy="137160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926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4045"/>
                </a:solidFill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8640" y="3401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</a:rPr>
              <a:t>Qui rembourse mal 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7947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Facteurs de risque et régions à surveiller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34640"/>
            <a:ext cx="64008" cy="1371600"/>
          </a:xfrm>
          <a:prstGeom prst="rect">
            <a:avLst/>
          </a:prstGeom>
          <a:solidFill>
            <a:srgbClr val="E87C2B"/>
          </a:solidFill>
          <a:ln w="12700">
            <a:solidFill>
              <a:srgbClr val="E87C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926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C2B"/>
                </a:solidFill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383280" y="3401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</a:rPr>
              <a:t>Exploitabilité &amp; Recommandations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7947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Bilan qualité et prochaines étapes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01 · </a:t>
            </a:r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 Dataset en chiffres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704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</a:rPr>
              <a:t>503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810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Clients analysés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109728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42032" y="11704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</a:rPr>
              <a:t>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42032" y="1810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Variables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09728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18304" y="11704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</a:rPr>
              <a:t>64,8%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18304" y="1810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Bons payeurs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109728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94576" y="11704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64045"/>
                </a:solidFill>
              </a:rPr>
              <a:t>35,2%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94576" y="1810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Taux de défaut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Variables du dataset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52928"/>
          <a:ext cx="48463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2286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Client_ID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Catég.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Identifiant unique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Catég.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Région géographique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Secteur_Activite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Catég.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Secteur économique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Revenu_Mensuel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Num.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Revenu en FCFA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Montant_Credit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Num.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Montant du crédit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Taux_Interet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Num.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Taux appliqué (%)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Retard_Paiement_Jours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Num.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Jours de retard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</a:rPr>
                        <a:t>Statut_Credit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</a:rPr>
                        <a:t>Cible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</a:rPr>
                        <a:t>Bon / Douteux / Contentieux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Chart 0" descr=""/>
          <p:cNvGraphicFramePr/>
          <p:nvPr/>
        </p:nvGraphicFramePr>
        <p:xfrm>
          <a:off x="5394960" y="2423160"/>
          <a:ext cx="34747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02 · </a:t>
            </a:r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Nettoyage des données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16276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70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🔁  Doublons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</a:rPr>
              <a:t>Aucun doublon détecté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84708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503 lignes conservées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39319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097280"/>
            <a:ext cx="64008" cy="1627632"/>
          </a:xfrm>
          <a:prstGeom prst="rect">
            <a:avLst/>
          </a:prstGeom>
          <a:solidFill>
            <a:srgbClr val="E87C2B"/>
          </a:solidFill>
          <a:ln w="12700">
            <a:solidFill>
              <a:srgbClr val="E87C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170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❓  Valeurs manquantes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18888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C2B"/>
                </a:solidFill>
              </a:rPr>
              <a:t>4 colonnes affectées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18888" y="184708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Garantie (10%) → 'Pas de garantie'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Age (3%) → colonne supprimée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Revenu &amp; Taux → conservés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39319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64008" cy="162763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0449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⚠️  Revenus négatifs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410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045"/>
                </a:solidFill>
              </a:rPr>
              <a:t>4 clients identifiés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7216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Erreur de saisie probable → valeur absolue appliquée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2971800"/>
            <a:ext cx="39319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2971800"/>
            <a:ext cx="64008" cy="162763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30449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🚨  Anomalies critiques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18888" y="3410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045"/>
                </a:solidFill>
              </a:rPr>
              <a:t>2 cas détectés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18888" y="37216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CLI0088 : retard 980j avec statut 'Bon'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CLI0043 : crédit 95M / revenu 225k FCFA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</a:rPr>
              <a:t>Récapitulatif valeurs manquantes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93776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822960"/>
                <a:gridCol w="475488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Manquants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Garantie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7C2B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7C2B"/>
                          </a:solidFill>
                        </a:rPr>
                        <a:t>~10%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Remplacement par 'Pas de garantie'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Colonne supprimée (faible corrélation)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Revenu_Mensuel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Conservé (imputation à la modélisation)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Taux_Interet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Converti string → float (virgule décimale)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03 · </a:t>
            </a:r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Profil de nos clients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1148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005840"/>
          <a:ext cx="42062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274320" y="3383280"/>
          <a:ext cx="32004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3657600" y="3401568"/>
            <a:ext cx="16002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3"/>
          <p:cNvSpPr/>
          <p:nvPr/>
        </p:nvSpPr>
        <p:spPr>
          <a:xfrm>
            <a:off x="3703320" y="349300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~500k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3703320" y="40416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FCFA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3703320" y="427939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Revenu mensuel médian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5440680" y="3401568"/>
            <a:ext cx="16002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5486400" y="349300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~3,7M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5486400" y="40416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FCFA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5486400" y="427939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Montant crédit moyen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7223760" y="3401568"/>
            <a:ext cx="16002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7269480" y="349300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13%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7269480" y="40416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moy.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7269480" y="427939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Taux d'intérêt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64045"/>
                </a:solidFill>
              </a:rPr>
              <a:t>04a · </a:t>
            </a:r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Risque par région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960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</a:rPr>
              <a:t>Points clés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760720" y="1371600"/>
            <a:ext cx="32004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371600"/>
            <a:ext cx="64008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0" y="1426464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0" y="14264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MEILLEURE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61888" y="14264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</a:rPr>
              <a:t>Dakar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61888" y="17556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67% Bon · 9% Contentieux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60720" y="2249424"/>
            <a:ext cx="32004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249424"/>
            <a:ext cx="64008" cy="74980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0" y="2304288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0" y="2304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CONTENTIEUX MAX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61888" y="23042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</a:rPr>
              <a:t>Kaolack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61888" y="26334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69% Bon · 13% Contentieux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60720" y="3127248"/>
            <a:ext cx="32004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60720" y="3127248"/>
            <a:ext cx="64008" cy="749808"/>
          </a:xfrm>
          <a:prstGeom prst="rect">
            <a:avLst/>
          </a:prstGeom>
          <a:solidFill>
            <a:srgbClr val="E87C2B"/>
          </a:solidFill>
          <a:ln w="12700">
            <a:solidFill>
              <a:srgbClr val="E87C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0" y="318211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87C2B"/>
          </a:solidFill>
          <a:ln w="12700">
            <a:solidFill>
              <a:srgbClr val="E87C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0" y="31821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DOUTEUX MAX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61888" y="31821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</a:rPr>
              <a:t>Ziguinchor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61888" y="35112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62% Bon · 29% Douteux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760720" y="4005072"/>
            <a:ext cx="32004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760720" y="4005072"/>
            <a:ext cx="64008" cy="749808"/>
          </a:xfrm>
          <a:prstGeom prst="rect">
            <a:avLst/>
          </a:prstGeom>
          <a:solidFill>
            <a:srgbClr val="E87C2B"/>
          </a:solidFill>
          <a:ln w="12700">
            <a:solidFill>
              <a:srgbClr val="E87C2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32320" y="4059936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87C2B"/>
          </a:solidFill>
          <a:ln w="12700">
            <a:solidFill>
              <a:srgbClr val="E87C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32320" y="40599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À SURVEILLER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961888" y="405993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</a:rPr>
              <a:t>Saint-Louis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961888" y="4389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62% Bon · 28% Douteux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64045"/>
                </a:solidFill>
              </a:rPr>
              <a:t>04b · </a:t>
            </a:r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Facteurs de risque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846320" y="105156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520440"/>
            <a:ext cx="8595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74320" y="3520440"/>
            <a:ext cx="64008" cy="3017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75488" y="3538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✅  Le montant du crédit N'EXPLIQUE PAS le risque (montants quasi-identiques)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74320" y="3886200"/>
            <a:ext cx="8595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74320" y="3886200"/>
            <a:ext cx="64008" cy="301752"/>
          </a:xfrm>
          <a:prstGeom prst="rect">
            <a:avLst/>
          </a:prstGeom>
          <a:solidFill>
            <a:srgbClr val="E87C2B"/>
          </a:solidFill>
          <a:ln w="12700">
            <a:solidFill>
              <a:srgbClr val="E87C2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5488" y="3904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✅  Le taux d'intérêt N'EST PAS différencié selon le risque — problème de pricing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251960"/>
            <a:ext cx="8595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74320" y="4251960"/>
            <a:ext cx="64008" cy="3017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5488" y="4270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🎯  Le RETARD DE PAIEMENT est le signal prédicteur le plus fort du défaut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4617720"/>
            <a:ext cx="8595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4617720"/>
            <a:ext cx="64008" cy="30175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5488" y="4636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🔑  C'est la combinaison Revenu + Montant + Retard qui discrimine le risque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7C2B"/>
                </a:solidFill>
              </a:rPr>
              <a:t>05 · </a:t>
            </a:r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Exploitabilité &amp; Recommandations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</a:rPr>
              <a:t>Bilan qualité des données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48463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  <a:gridCol w="731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Évaluation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Taille dataset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503 obs. — suffisant pour analyse descriptive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Complétude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3–10% manquants sur 4 colonnes seulement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Cohérence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Quelques anomalies détectées et signalées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⚠️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Variable cible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Statut_Credit bien défini (3 classes)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Équilibre classes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65% / 25% / 10% — déséquilibre à gérer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⚠️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960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</a:rPr>
              <a:t>Recommandations opérationnelles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0" y="1261872"/>
            <a:ext cx="3383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371600"/>
            <a:ext cx="365760" cy="365760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35040" y="135331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Renforcer le suivi client dans les régions Kaolack, Ziguinchor et Saint-Louis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0" y="1975104"/>
            <a:ext cx="3383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2084832"/>
            <a:ext cx="365760" cy="365760"/>
          </a:xfrm>
          <a:prstGeom prst="ellipse">
            <a:avLst/>
          </a:prstGeom>
          <a:solidFill>
            <a:srgbClr val="E87C2B"/>
          </a:solidFill>
          <a:ln w="12700">
            <a:solidFill>
              <a:srgbClr val="E87C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35040" y="206654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Introduire une prime de risque dans le taux d'intérêt selon le profil client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0" y="2688336"/>
            <a:ext cx="3383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2798064"/>
            <a:ext cx="365760" cy="365760"/>
          </a:xfrm>
          <a:prstGeom prst="ellipse">
            <a:avLst/>
          </a:prstGeom>
          <a:solidFill>
            <a:srgbClr val="E87C2B"/>
          </a:solidFill>
          <a:ln w="12700">
            <a:solidFill>
              <a:srgbClr val="E87C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35040" y="2779776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Mettre en place une alerte précoce basée sur les premiers retards de paiement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86400" y="3401568"/>
            <a:ext cx="3383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577840" y="3511296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035040" y="349300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Développer un score crédit combinant : revenu, montant, retard, région, secteur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86400" y="4114800"/>
            <a:ext cx="3383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577840" y="4224528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7784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035040" y="420624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Améliorer la qualité de saisie (revenus négatifs, retards incohérents)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Prochaines étapes pour la modélisation :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65760" y="3584448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• Imputation Revenu_Mensuel / Taux_Interet (médiane par secteur)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• Encodage des variables catégorielles (One-Hot / Label)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• Rééquilibrage des classes (SMOTE ou class_weight)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• Test de modèles : Logistic Regression, Random Forest, XGBoost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Ce que nous avons appris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📊  Dataset exploitable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D3DD"/>
                </a:solidFill>
              </a:rPr>
              <a:t>503 clients, données de qualité acceptable pour l'analyse descriptive et la modélisation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542032"/>
            <a:ext cx="6858000" cy="6400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877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🌍  Kaolack &amp; Ziguinchor en vigilance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D3DD"/>
                </a:solidFill>
              </a:rPr>
              <a:t>Taux de défaut les plus élevés — nécessitent un suivi renforcé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300984"/>
            <a:ext cx="6858000" cy="6400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467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⚡  Le retard de paiement : signal clé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3931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D3DD"/>
                </a:solidFill>
              </a:rPr>
              <a:t>Prédicteur le plus fort du risque — un système d'alerte précoce est prioritaire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4059936"/>
            <a:ext cx="6858000" cy="6400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056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💡  Pricing à revoir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39826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D3DD"/>
                </a:solidFill>
              </a:rPr>
              <a:t>Les taux d'intérêt sont identiques quel que soit le profil de risque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BNDE — Analyse Portefeuille Crédit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du Portefeuille Crédit — BNDE</dc:title>
  <dc:subject>PptxGenJS Presentation</dc:subject>
  <dc:creator>PptxGenJS</dc:creator>
  <cp:lastModifiedBy>PptxGenJS</cp:lastModifiedBy>
  <cp:revision>1</cp:revision>
  <dcterms:created xsi:type="dcterms:W3CDTF">2026-05-24T22:05:55Z</dcterms:created>
  <dcterms:modified xsi:type="dcterms:W3CDTF">2026-05-24T22:05:55Z</dcterms:modified>
</cp:coreProperties>
</file>